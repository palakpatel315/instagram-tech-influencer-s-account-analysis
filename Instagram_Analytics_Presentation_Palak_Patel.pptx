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7" r:id="rId3"/>
    <p:sldId id="268" r:id="rId4"/>
    <p:sldId id="270" r:id="rId5"/>
    <p:sldId id="26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 Engaging Instagram Post Ideas to Keep Your Feed Fresh - Planable">
            <a:extLst>
              <a:ext uri="{FF2B5EF4-FFF2-40B4-BE49-F238E27FC236}">
                <a16:creationId xmlns:a16="http://schemas.microsoft.com/office/drawing/2014/main" id="{161933B6-7496-A452-1914-6B0F56ACF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6971C5-80C2-AD45-F85F-2EEF86779F3C}"/>
              </a:ext>
            </a:extLst>
          </p:cNvPr>
          <p:cNvSpPr txBox="1"/>
          <p:nvPr/>
        </p:nvSpPr>
        <p:spPr>
          <a:xfrm>
            <a:off x="1047135" y="2136327"/>
            <a:ext cx="70497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Instagram Tech</a:t>
            </a:r>
            <a:endParaRPr lang="en-GB" b="1" dirty="0"/>
          </a:p>
          <a:p>
            <a:pPr algn="ctr"/>
            <a:r>
              <a:rPr lang="en-GB" sz="5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Influencer Account Analysis Using SQL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67BD5-E04F-8877-A5C2-9AB054E8EC1B}"/>
              </a:ext>
            </a:extLst>
          </p:cNvPr>
          <p:cNvSpPr txBox="1"/>
          <p:nvPr/>
        </p:nvSpPr>
        <p:spPr>
          <a:xfrm>
            <a:off x="4935795" y="6267334"/>
            <a:ext cx="4070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Presented by: Palak Patel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4A14A0-364E-B08C-6B5C-CBC73AB9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348" y="184904"/>
            <a:ext cx="944465" cy="924232"/>
          </a:xfrm>
          <a:prstGeom prst="rect">
            <a:avLst/>
          </a:prstGeom>
        </p:spPr>
      </p:pic>
      <p:pic>
        <p:nvPicPr>
          <p:cNvPr id="8" name="Picture 2" descr="Learn Data Analysis Project In Power BI for Free by Code Basics : Fee,  Review, Duration | Shiksha Online">
            <a:extLst>
              <a:ext uri="{FF2B5EF4-FFF2-40B4-BE49-F238E27FC236}">
                <a16:creationId xmlns:a16="http://schemas.microsoft.com/office/drawing/2014/main" id="{D60F1F02-E1BE-D93F-186B-0EEFCCE4F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17" y="184905"/>
            <a:ext cx="944465" cy="92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5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A860-46E3-CCD0-EBED-754FFEE9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2F0AEB-B776-D86C-3CCD-7B3EDBE44C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E86E04-FF74-03DE-F9AE-1385939BB60D}"/>
              </a:ext>
            </a:extLst>
          </p:cNvPr>
          <p:cNvSpPr txBox="1"/>
          <p:nvPr/>
        </p:nvSpPr>
        <p:spPr>
          <a:xfrm>
            <a:off x="2403987" y="508509"/>
            <a:ext cx="46506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8D7D1-51FB-C3C2-2C4B-C9D95A86495A}"/>
              </a:ext>
            </a:extLst>
          </p:cNvPr>
          <p:cNvSpPr txBox="1"/>
          <p:nvPr/>
        </p:nvSpPr>
        <p:spPr>
          <a:xfrm>
            <a:off x="870155" y="2090172"/>
            <a:ext cx="77183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800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Analyze</a:t>
            </a:r>
            <a:r>
              <a:rPr lang="en-GB" sz="28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Instagram performance data</a:t>
            </a:r>
          </a:p>
          <a:p>
            <a:endParaRPr lang="en-GB" sz="2800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Extract insights to improve content strategy</a:t>
            </a:r>
          </a:p>
          <a:p>
            <a:endParaRPr lang="en-GB" sz="2800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Answer key business questions using SQL and visualise data using Power BI</a:t>
            </a:r>
          </a:p>
        </p:txBody>
      </p:sp>
    </p:spTree>
    <p:extLst>
      <p:ext uri="{BB962C8B-B14F-4D97-AF65-F5344CB8AC3E}">
        <p14:creationId xmlns:p14="http://schemas.microsoft.com/office/powerpoint/2010/main" val="221174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B8A5-98BD-8F37-BE3F-0DB65B9E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BF4FE5-A508-300B-6744-B2F6DAEFB3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655A68-7D48-C289-7939-9E1674697B1E}"/>
              </a:ext>
            </a:extLst>
          </p:cNvPr>
          <p:cNvSpPr txBox="1"/>
          <p:nvPr/>
        </p:nvSpPr>
        <p:spPr>
          <a:xfrm>
            <a:off x="2246671" y="296944"/>
            <a:ext cx="4650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Sources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C66572-AF6A-CAA7-3EA4-2C00839B7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504"/>
              </p:ext>
            </p:extLst>
          </p:nvPr>
        </p:nvGraphicFramePr>
        <p:xfrm>
          <a:off x="983226" y="1960880"/>
          <a:ext cx="7187380" cy="313437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593690">
                  <a:extLst>
                    <a:ext uri="{9D8B030D-6E8A-4147-A177-3AD203B41FA5}">
                      <a16:colId xmlns:a16="http://schemas.microsoft.com/office/drawing/2014/main" val="1586939222"/>
                    </a:ext>
                  </a:extLst>
                </a:gridCol>
                <a:gridCol w="3593690">
                  <a:extLst>
                    <a:ext uri="{9D8B030D-6E8A-4147-A177-3AD203B41FA5}">
                      <a16:colId xmlns:a16="http://schemas.microsoft.com/office/drawing/2014/main" val="828772608"/>
                    </a:ext>
                  </a:extLst>
                </a:gridCol>
              </a:tblGrid>
              <a:tr h="49683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Table Name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667018"/>
                  </a:ext>
                </a:extLst>
              </a:tr>
              <a:tr h="857556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fact_content</a:t>
                      </a:r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Post-level metrics (likes, impressions, reach, etc.)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654011"/>
                  </a:ext>
                </a:extLst>
              </a:tr>
              <a:tr h="922429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fact_account</a:t>
                      </a:r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Daily account-level metrics (profile visits, new followers)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835853"/>
                  </a:ext>
                </a:extLst>
              </a:tr>
              <a:tr h="857556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dim_date</a:t>
                      </a:r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Date dimension (month, weekday/weekend, etc.)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62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70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4D57-1F25-404C-1C72-2C157476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CA522C-D3A4-263B-8284-9F0230EEDC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C986A5-066F-482C-AC60-E622BD21D13D}"/>
              </a:ext>
            </a:extLst>
          </p:cNvPr>
          <p:cNvSpPr txBox="1"/>
          <p:nvPr/>
        </p:nvSpPr>
        <p:spPr>
          <a:xfrm>
            <a:off x="2246671" y="296944"/>
            <a:ext cx="4650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KPI’s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7CCDCE-3CEB-8464-4242-FFF17D883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29" y="2025446"/>
            <a:ext cx="6931742" cy="345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92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C8B0-2547-00EC-3DBF-901C7B601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D844F7-890A-61A6-EA3F-8523AE9235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8740CC-95B4-6F17-38C4-6AC763A8B398}"/>
              </a:ext>
            </a:extLst>
          </p:cNvPr>
          <p:cNvSpPr txBox="1"/>
          <p:nvPr/>
        </p:nvSpPr>
        <p:spPr>
          <a:xfrm>
            <a:off x="324465" y="527325"/>
            <a:ext cx="84950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How many unique post types are found in the '</a:t>
            </a:r>
            <a:r>
              <a:rPr lang="en-GB" sz="24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 table?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192BB-B904-66E3-7E77-19A3DABA790E}"/>
              </a:ext>
            </a:extLst>
          </p:cNvPr>
          <p:cNvSpPr txBox="1"/>
          <p:nvPr/>
        </p:nvSpPr>
        <p:spPr>
          <a:xfrm>
            <a:off x="324465" y="1933338"/>
            <a:ext cx="46506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 :- </a:t>
            </a:r>
          </a:p>
          <a:p>
            <a:endParaRPr lang="en-GB" sz="20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COUNT(DISTINCT </a:t>
            </a:r>
            <a:r>
              <a:rPr lang="en-GB" sz="20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GB" sz="20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20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unique_post_types</a:t>
            </a:r>
            <a:endParaRPr lang="en-GB" sz="20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20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GB" sz="20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C5413A-0D62-B69C-8F3A-B829BAC9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902" y="2501539"/>
            <a:ext cx="2467319" cy="14956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058E94-C51D-4C99-E302-2ACAA25EEE5F}"/>
              </a:ext>
            </a:extLst>
          </p:cNvPr>
          <p:cNvSpPr txBox="1"/>
          <p:nvPr/>
        </p:nvSpPr>
        <p:spPr>
          <a:xfrm>
            <a:off x="4572000" y="1933338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Visual</a:t>
            </a:r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:-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79A6E3-E580-4878-1DAF-51DD9A6ECAF8}"/>
              </a:ext>
            </a:extLst>
          </p:cNvPr>
          <p:cNvSpPr txBox="1"/>
          <p:nvPr/>
        </p:nvSpPr>
        <p:spPr>
          <a:xfrm>
            <a:off x="324465" y="4236008"/>
            <a:ext cx="46506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Why It Was Used :-</a:t>
            </a:r>
          </a:p>
          <a:p>
            <a:endParaRPr lang="en-GB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 Unique Post Types  COUNT(DISTINCT </a:t>
            </a:r>
            <a:r>
              <a:rPr lang="en-GB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find how many different post formats exist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8300FC-FF65-C5CB-CC9F-0FC41B462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902" y="4236008"/>
            <a:ext cx="2467319" cy="23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9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4DC71-0BA2-AC44-3FD2-E5B99229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C4D55E-70DF-774A-B817-C443FFCBE4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55B4BC-E194-FB72-6B8F-85FB4AB3E610}"/>
              </a:ext>
            </a:extLst>
          </p:cNvPr>
          <p:cNvSpPr txBox="1"/>
          <p:nvPr/>
        </p:nvSpPr>
        <p:spPr>
          <a:xfrm>
            <a:off x="285134" y="399507"/>
            <a:ext cx="85638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What are the highest and lowest recorded impressions for each post type?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5150E5-B68F-F652-7F23-E8EE978CDAC0}"/>
              </a:ext>
            </a:extLst>
          </p:cNvPr>
          <p:cNvSpPr txBox="1"/>
          <p:nvPr/>
        </p:nvSpPr>
        <p:spPr>
          <a:xfrm>
            <a:off x="285134" y="1885024"/>
            <a:ext cx="4281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 :-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AED421-A2EC-FAF7-07BE-32DE5FCFFF7E}"/>
              </a:ext>
            </a:extLst>
          </p:cNvPr>
          <p:cNvSpPr txBox="1"/>
          <p:nvPr/>
        </p:nvSpPr>
        <p:spPr>
          <a:xfrm>
            <a:off x="285134" y="2515363"/>
            <a:ext cx="46555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  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MAX(impressions)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highest_daily_impression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   MIN(impressions)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lowest_daily_impression</a:t>
            </a:r>
            <a:endParaRPr lang="en-GB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endParaRPr lang="en-GB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post_type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46756-B2DE-8F9C-61F4-484C36B3E05E}"/>
              </a:ext>
            </a:extLst>
          </p:cNvPr>
          <p:cNvSpPr txBox="1"/>
          <p:nvPr/>
        </p:nvSpPr>
        <p:spPr>
          <a:xfrm>
            <a:off x="4208208" y="1885024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Visual</a:t>
            </a:r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:-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A0D25A-5F7B-72A9-8FBC-F84BEE40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139" y="2643078"/>
            <a:ext cx="4448796" cy="1571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E02C79-9F6D-740A-7AA0-425FE225061E}"/>
              </a:ext>
            </a:extLst>
          </p:cNvPr>
          <p:cNvSpPr txBox="1"/>
          <p:nvPr/>
        </p:nvSpPr>
        <p:spPr>
          <a:xfrm>
            <a:off x="285134" y="4807695"/>
            <a:ext cx="46506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Why It Was Used :-</a:t>
            </a:r>
          </a:p>
          <a:p>
            <a:endParaRPr lang="en-GB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Highest/Lowest Impressions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MAX(), MIN(), GROUP BY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compare best and worst performing post types</a:t>
            </a:r>
          </a:p>
        </p:txBody>
      </p:sp>
    </p:spTree>
    <p:extLst>
      <p:ext uri="{BB962C8B-B14F-4D97-AF65-F5344CB8AC3E}">
        <p14:creationId xmlns:p14="http://schemas.microsoft.com/office/powerpoint/2010/main" val="384715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05C0-63D8-70B9-A57B-82A76A73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00B317-A424-E96D-4D8C-F1A11D19F0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34F980-3376-4CDC-9FB8-9936DF91834E}"/>
              </a:ext>
            </a:extLst>
          </p:cNvPr>
          <p:cNvSpPr txBox="1"/>
          <p:nvPr/>
        </p:nvSpPr>
        <p:spPr>
          <a:xfrm>
            <a:off x="285134" y="399507"/>
            <a:ext cx="85638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Filter all the posts that were published on a weekend in the month of March and April.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5C881-EA10-20AC-C710-C935C40303D6}"/>
              </a:ext>
            </a:extLst>
          </p:cNvPr>
          <p:cNvSpPr txBox="1"/>
          <p:nvPr/>
        </p:nvSpPr>
        <p:spPr>
          <a:xfrm>
            <a:off x="285134" y="1885024"/>
            <a:ext cx="4281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 :-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48DE3-1F72-8368-4627-9ACCCA6F2EB0}"/>
              </a:ext>
            </a:extLst>
          </p:cNvPr>
          <p:cNvSpPr txBox="1"/>
          <p:nvPr/>
        </p:nvSpPr>
        <p:spPr>
          <a:xfrm>
            <a:off x="4208208" y="1885024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Visual</a:t>
            </a:r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:-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195B4-824A-3F37-6E7C-6A4E723DD37D}"/>
              </a:ext>
            </a:extLst>
          </p:cNvPr>
          <p:cNvSpPr txBox="1"/>
          <p:nvPr/>
        </p:nvSpPr>
        <p:spPr>
          <a:xfrm>
            <a:off x="285134" y="2515363"/>
            <a:ext cx="42819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fc.*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fc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dd ON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fc.date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dd.date</a:t>
            </a:r>
            <a:endParaRPr lang="en-GB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dd.weekday_or_weekend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'Weekend’ 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('March', 'April');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3BEA50-E322-AD50-C7F3-9EE5E9888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082" y="2341603"/>
            <a:ext cx="4281949" cy="39018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7BF7AD-583C-541A-70B5-06BC12BC6713}"/>
              </a:ext>
            </a:extLst>
          </p:cNvPr>
          <p:cNvSpPr txBox="1"/>
          <p:nvPr/>
        </p:nvSpPr>
        <p:spPr>
          <a:xfrm>
            <a:off x="196644" y="4865975"/>
            <a:ext cx="46506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Why It Was Used :-</a:t>
            </a:r>
          </a:p>
          <a:p>
            <a:endParaRPr lang="en-GB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Weekend Posts in March &amp; April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JOIN, WHERE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filter posts by calendar attributes</a:t>
            </a:r>
          </a:p>
        </p:txBody>
      </p:sp>
    </p:spTree>
    <p:extLst>
      <p:ext uri="{BB962C8B-B14F-4D97-AF65-F5344CB8AC3E}">
        <p14:creationId xmlns:p14="http://schemas.microsoft.com/office/powerpoint/2010/main" val="4228975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749B-DFE1-C0EE-5DA8-B47A4167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EAA73E-AEF9-0438-EAA8-E7AFDF475C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74A72-433E-102F-A173-FB125E2831E1}"/>
              </a:ext>
            </a:extLst>
          </p:cNvPr>
          <p:cNvSpPr txBox="1"/>
          <p:nvPr/>
        </p:nvSpPr>
        <p:spPr>
          <a:xfrm>
            <a:off x="285134" y="232358"/>
            <a:ext cx="85638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Create a report to get the statistics for the account. The final output includes the following fields:</a:t>
            </a:r>
          </a:p>
          <a:p>
            <a:pPr algn="ctr"/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•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total_profile_visits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•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total_new_followers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B8375-3826-E247-026D-01EBA8ED1542}"/>
              </a:ext>
            </a:extLst>
          </p:cNvPr>
          <p:cNvSpPr txBox="1"/>
          <p:nvPr/>
        </p:nvSpPr>
        <p:spPr>
          <a:xfrm>
            <a:off x="285134" y="1452403"/>
            <a:ext cx="4281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 :-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91972-E48E-11BC-A335-51782B9DE696}"/>
              </a:ext>
            </a:extLst>
          </p:cNvPr>
          <p:cNvSpPr txBox="1"/>
          <p:nvPr/>
        </p:nvSpPr>
        <p:spPr>
          <a:xfrm>
            <a:off x="4208208" y="1452403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Visual</a:t>
            </a:r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740B5E-8AC5-97CB-EE13-FD93699EB154}"/>
              </a:ext>
            </a:extLst>
          </p:cNvPr>
          <p:cNvSpPr txBox="1"/>
          <p:nvPr/>
        </p:nvSpPr>
        <p:spPr>
          <a:xfrm>
            <a:off x="368710" y="1802848"/>
            <a:ext cx="44835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SUM(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fa.profile_visits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total_profile_visits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SUM(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fa.new_followers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total_new_followers</a:t>
            </a:r>
            <a:endParaRPr lang="en-GB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fact_account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fa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dd ON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fa.date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dd.date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GROUP BY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FIELD(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'January', 'February', 'March', 'April', 'May', 'June',                                      'July', 'August', 'September', 'October', 'November', 'December');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423540-8814-FBA7-1F35-7C59283B0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512" y="2035205"/>
            <a:ext cx="4483506" cy="2576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F31487-137A-E60D-F43B-5923DB1B8F07}"/>
              </a:ext>
            </a:extLst>
          </p:cNvPr>
          <p:cNvSpPr txBox="1"/>
          <p:nvPr/>
        </p:nvSpPr>
        <p:spPr>
          <a:xfrm>
            <a:off x="285134" y="5576919"/>
            <a:ext cx="87408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Why It Was Used 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Monthly Account Statistics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SUM(), GROUP BY, ORDER BY FIELD()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track growth and order months chronologically</a:t>
            </a:r>
          </a:p>
        </p:txBody>
      </p:sp>
    </p:spTree>
    <p:extLst>
      <p:ext uri="{BB962C8B-B14F-4D97-AF65-F5344CB8AC3E}">
        <p14:creationId xmlns:p14="http://schemas.microsoft.com/office/powerpoint/2010/main" val="218013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8266-68B6-1D82-A7B1-E765D613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CE1ECE-99DD-5EFA-9305-A06865497A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128601-AB73-4B20-0627-1362818E9925}"/>
              </a:ext>
            </a:extLst>
          </p:cNvPr>
          <p:cNvSpPr txBox="1"/>
          <p:nvPr/>
        </p:nvSpPr>
        <p:spPr>
          <a:xfrm>
            <a:off x="285134" y="202862"/>
            <a:ext cx="8563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Write a CTE that calculates the total number of 'likes’ for each '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 during the month of 'July' and subsequently, arrange the '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 values in descending order according to their total likes.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7F17C-1C74-8A36-CA5E-6F98FE22A1A6}"/>
              </a:ext>
            </a:extLst>
          </p:cNvPr>
          <p:cNvSpPr txBox="1"/>
          <p:nvPr/>
        </p:nvSpPr>
        <p:spPr>
          <a:xfrm>
            <a:off x="285134" y="1452403"/>
            <a:ext cx="4281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 :-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5C649-F96C-F39C-0869-86AB4309C1C1}"/>
              </a:ext>
            </a:extLst>
          </p:cNvPr>
          <p:cNvSpPr txBox="1"/>
          <p:nvPr/>
        </p:nvSpPr>
        <p:spPr>
          <a:xfrm>
            <a:off x="4208208" y="1452403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Visual</a:t>
            </a:r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:-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3DFC5-28D4-A3BB-B193-1C6B20CBE675}"/>
              </a:ext>
            </a:extLst>
          </p:cNvPr>
          <p:cNvSpPr txBox="1"/>
          <p:nvPr/>
        </p:nvSpPr>
        <p:spPr>
          <a:xfrm>
            <a:off x="285134" y="2055613"/>
            <a:ext cx="46506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july_likes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 SELECT 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fc.post_category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   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SUM(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fc.likes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total_likes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fc    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dd ON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fc.date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dd.date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WHERE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'July'    GROUP BY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fc.post_category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*FROM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july_likes</a:t>
            </a:r>
            <a:endParaRPr lang="en-GB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GB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total_likes</a:t>
            </a:r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8189A2-CCC5-73DF-58D1-431F70F68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316" y="2055613"/>
            <a:ext cx="4300592" cy="27425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7DD74D-4F30-1F4A-8BF4-E4EE0B3BAF96}"/>
              </a:ext>
            </a:extLst>
          </p:cNvPr>
          <p:cNvSpPr txBox="1"/>
          <p:nvPr/>
        </p:nvSpPr>
        <p:spPr>
          <a:xfrm>
            <a:off x="285134" y="5174446"/>
            <a:ext cx="4650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Why It Was Used :-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July Likes by Category (CTE)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WITH, SUM(), ORDER BY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isolate July data and rank categories</a:t>
            </a:r>
          </a:p>
        </p:txBody>
      </p:sp>
    </p:spTree>
    <p:extLst>
      <p:ext uri="{BB962C8B-B14F-4D97-AF65-F5344CB8AC3E}">
        <p14:creationId xmlns:p14="http://schemas.microsoft.com/office/powerpoint/2010/main" val="144450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75C1-6AE0-74C6-421F-8DEDE505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EE2CE1-EDE7-03FB-9B33-492C42B784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081370-4190-AB65-4BA7-A6379F7FB73B}"/>
              </a:ext>
            </a:extLst>
          </p:cNvPr>
          <p:cNvSpPr txBox="1"/>
          <p:nvPr/>
        </p:nvSpPr>
        <p:spPr>
          <a:xfrm>
            <a:off x="285134" y="252023"/>
            <a:ext cx="8563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6. Create a report that displays the unique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names alongside their respective counts for each month. The output should have three columns: </a:t>
            </a:r>
          </a:p>
          <a:p>
            <a:pPr algn="ctr"/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•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post_category_names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•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post_category_count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799BF-DF59-554E-2766-F96A00ECB029}"/>
              </a:ext>
            </a:extLst>
          </p:cNvPr>
          <p:cNvSpPr txBox="1"/>
          <p:nvPr/>
        </p:nvSpPr>
        <p:spPr>
          <a:xfrm>
            <a:off x="285134" y="1550723"/>
            <a:ext cx="4281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Query :-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E391F-0C39-A091-EE0B-A38F8B33A18E}"/>
              </a:ext>
            </a:extLst>
          </p:cNvPr>
          <p:cNvSpPr txBox="1"/>
          <p:nvPr/>
        </p:nvSpPr>
        <p:spPr>
          <a:xfrm>
            <a:off x="4208208" y="1550723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Visual</a:t>
            </a:r>
            <a:r>
              <a:rPr lang="en-GB" sz="18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:-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FFF96-2F30-9BFB-F616-CADFAB9B4321}"/>
              </a:ext>
            </a:extLst>
          </p:cNvPr>
          <p:cNvSpPr txBox="1"/>
          <p:nvPr/>
        </p:nvSpPr>
        <p:spPr>
          <a:xfrm>
            <a:off x="486697" y="1835054"/>
            <a:ext cx="395748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</a:t>
            </a:r>
          </a:p>
          <a:p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month_name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GROUP_CONCAT(DISTINCT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fc.post_category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fc.post_category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ASC) AS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post_category_names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   COUNT(DISTINCT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fc.post_category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post_category_count</a:t>
            </a:r>
            <a:endParaRPr lang="en-GB" sz="16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fact_content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fc</a:t>
            </a:r>
          </a:p>
          <a:p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dim_dates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dd ON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fc.date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dd.date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GROUP BY 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ORDER BY FIELD(</a:t>
            </a:r>
            <a:r>
              <a:rPr lang="en-GB" sz="16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dd.month_name</a:t>
            </a:r>
            <a:r>
              <a:rPr lang="en-GB" sz="1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'January', 'February', 'March', 'April', 'May', 'June',                                      'July', 'August', 'September', 'October', 'November', 'December');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E01495-2EE5-FC0C-9EA1-F8F80C4F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94" y="2179647"/>
            <a:ext cx="4650659" cy="297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0858E5-20DB-67EC-9969-7CBB77412FB4}"/>
              </a:ext>
            </a:extLst>
          </p:cNvPr>
          <p:cNvSpPr txBox="1"/>
          <p:nvPr/>
        </p:nvSpPr>
        <p:spPr>
          <a:xfrm>
            <a:off x="486697" y="5866927"/>
            <a:ext cx="8362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💡 Why It Was Used 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Unique Categories per Month  GROUP_CONCAT(DISTINCT), COUNT(DISTINCT)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measure content diversity and display clearly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659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2E6A-5A13-1893-8421-7B580EDD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AB72DB-D915-186A-383C-E6FD83804F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CE0225-9ECB-BDEA-CEAA-5BA32209F897}"/>
              </a:ext>
            </a:extLst>
          </p:cNvPr>
          <p:cNvSpPr txBox="1"/>
          <p:nvPr/>
        </p:nvSpPr>
        <p:spPr>
          <a:xfrm>
            <a:off x="285134" y="165800"/>
            <a:ext cx="8563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F7F33-6026-967D-D904-B800D0F1A8D1}"/>
              </a:ext>
            </a:extLst>
          </p:cNvPr>
          <p:cNvSpPr txBox="1"/>
          <p:nvPr/>
        </p:nvSpPr>
        <p:spPr>
          <a:xfrm>
            <a:off x="285134" y="825579"/>
            <a:ext cx="841641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Reels dominated with 3.39M impressions.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Stable performance from Jan–Apr, with a strong spike in May–Jun, followed by a gradual decline.</a:t>
            </a:r>
          </a:p>
          <a:p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June: 76K new followers from 103K profile visits — highlighting exceptional conversion.</a:t>
            </a:r>
          </a:p>
          <a:p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July saw peak in </a:t>
            </a:r>
            <a:r>
              <a:rPr lang="en-GB" sz="24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total_likes</a:t>
            </a: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the ‘Other Gadgets’ category</a:t>
            </a:r>
            <a:b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performers in </a:t>
            </a:r>
            <a:r>
              <a:rPr lang="en-GB" sz="24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post_category</a:t>
            </a: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Tech Tips, Mobiles, and Other Gadgets.</a:t>
            </a:r>
            <a:b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GB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Content diversity increased in Quarter 2</a:t>
            </a:r>
          </a:p>
          <a:p>
            <a:pPr algn="ctr"/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244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448A-8344-EBAD-8489-B3F07BE7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5A2D4D-A08C-081C-1299-C0E1EB6619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B59D5E-E86A-D8A2-0D4C-DFC7322FF0E1}"/>
              </a:ext>
            </a:extLst>
          </p:cNvPr>
          <p:cNvSpPr txBox="1"/>
          <p:nvPr/>
        </p:nvSpPr>
        <p:spPr>
          <a:xfrm>
            <a:off x="285134" y="252023"/>
            <a:ext cx="8563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E2AB6-D867-D6C8-A271-C31A027552B6}"/>
              </a:ext>
            </a:extLst>
          </p:cNvPr>
          <p:cNvSpPr txBox="1"/>
          <p:nvPr/>
        </p:nvSpPr>
        <p:spPr>
          <a:xfrm>
            <a:off x="285133" y="1767006"/>
            <a:ext cx="856389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Prioritize Reels and </a:t>
            </a:r>
            <a:r>
              <a:rPr lang="en-GB" sz="24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Other_Gadgets</a:t>
            </a: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content for maximum engagement</a:t>
            </a:r>
          </a:p>
          <a:p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insights from May–Jun spikes to plan posting frequency and campaign schedules </a:t>
            </a:r>
          </a:p>
          <a:p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Explore underused </a:t>
            </a:r>
            <a:r>
              <a:rPr lang="en-GB" sz="2400" b="1" dirty="0" err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post_categories</a:t>
            </a:r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180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856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7F790B-6978-A301-BFFF-DFBE23BE51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" y="0"/>
            <a:ext cx="9144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BD7BF3-3C80-B611-2E71-5C3718E2EAD4}"/>
              </a:ext>
            </a:extLst>
          </p:cNvPr>
          <p:cNvSpPr txBox="1"/>
          <p:nvPr/>
        </p:nvSpPr>
        <p:spPr>
          <a:xfrm>
            <a:off x="786581" y="2149874"/>
            <a:ext cx="784614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  <a:p>
            <a:pPr algn="ctr"/>
            <a:r>
              <a:rPr lang="en-GB" sz="66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            </a:t>
            </a:r>
            <a:r>
              <a:rPr lang="en-GB" sz="2400" b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Your Attention</a:t>
            </a:r>
            <a:endParaRPr lang="en-GB" sz="6600" b="1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5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PALAK PATEL</cp:lastModifiedBy>
  <cp:revision>6</cp:revision>
  <dcterms:created xsi:type="dcterms:W3CDTF">2013-01-27T09:14:16Z</dcterms:created>
  <dcterms:modified xsi:type="dcterms:W3CDTF">2025-11-05T11:38:22Z</dcterms:modified>
  <cp:category/>
</cp:coreProperties>
</file>